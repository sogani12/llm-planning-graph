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7E43E5-0856-45B7-9385-7EC1A89BE12B}">
  <a:tblStyle styleId="{317E43E5-0856-45B7-9385-7EC1A89BE1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verage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swal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6f232d824_1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6f232d824_1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b45f38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b45f38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b45f38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b45f38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6f232d8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6f232d8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5242028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5242028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b45f38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b45f38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6f232d82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6f232d8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6f232d82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6f232d82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6f232d824_1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6f232d824_1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6f232d824_1_1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6f232d824_1_1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cholar.google.com/scholar?oi=bibs&amp;cluster=6500211060515493875&amp;btnI=1&amp;hl=zh-CN" TargetMode="External"/><Relationship Id="rId4" Type="http://schemas.openxmlformats.org/officeDocument/2006/relationships/hyperlink" Target="https://scholar.google.com/scholar?oi=bibs&amp;cluster=12286542878091110639&amp;btnI=1&amp;hl=zh-CN" TargetMode="External"/><Relationship Id="rId5" Type="http://schemas.openxmlformats.org/officeDocument/2006/relationships/hyperlink" Target="https://arxiv.org/abs/2405.20139" TargetMode="External"/><Relationship Id="rId6" Type="http://schemas.openxmlformats.org/officeDocument/2006/relationships/hyperlink" Target="https://arxiv.org/search/cs?searchtype=author&amp;query=Mavromatis,+C" TargetMode="External"/><Relationship Id="rId7" Type="http://schemas.openxmlformats.org/officeDocument/2006/relationships/hyperlink" Target="https://arxiv.org/search/cs?searchtype=author&amp;query=Karypis,+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2284975"/>
            <a:ext cx="8520600" cy="8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672"/>
              <a:buFont typeface="Arial"/>
              <a:buNone/>
            </a:pPr>
            <a:r>
              <a:rPr lang="en" sz="2578"/>
              <a:t>Structured Planning Under Uncertainty: A Decision Graph Approach to AI-Assisted Software Development</a:t>
            </a:r>
            <a:br>
              <a:rPr lang="en"/>
            </a:br>
            <a:r>
              <a:rPr lang="en" sz="1650"/>
              <a:t>Naman Sogani, Ashvin Sehgal, Mari Garey, Elena Motonishi, Sreemae Konduru, Omkar Khade</a:t>
            </a:r>
            <a:endParaRPr sz="16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Brief Recap</a:t>
            </a:r>
            <a:endParaRPr sz="25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85825"/>
            <a:ext cx="8520600" cy="3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Problem Description</a:t>
            </a:r>
            <a:endParaRPr b="1" i="1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Current AI IDEs optimize for the instruction/task at hand, often, forgetting the overall codebase, workflow, conventions, and objectives of the organization leading to conflicts down the line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Past decisions and coding standards are ignored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Dependencies between modules are often missed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leads to inconsistent and sometimes incorrect code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Errors may appear later in completely different parts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Significance &amp; Research Value</a:t>
            </a:r>
            <a:endParaRPr b="1" i="1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 LLM consistency in projects, surface potential errors or inconsistencies with some other part of the project, and curtail blast radius of changes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60475" y="1066075"/>
            <a:ext cx="8216700" cy="5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 u="sng">
                <a:solidFill>
                  <a:schemeClr val="hlink"/>
                </a:solidFill>
                <a:hlinkClick r:id="rId3"/>
              </a:rPr>
              <a:t>Graph chain-of-thought: Augmenting large language models by reasoning on graphs</a:t>
            </a:r>
            <a:endParaRPr i="1" sz="12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B Jin, C Xie, J Zhang, KK Roy, Y Zhang, Z Li, R Li… - Findings of the Association for Computational …, 2024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Introduces </a:t>
            </a:r>
            <a:r>
              <a:rPr b="1" lang="en" sz="1100">
                <a:solidFill>
                  <a:schemeClr val="dk1"/>
                </a:solidFill>
              </a:rPr>
              <a:t>graph-structured reasoning</a:t>
            </a:r>
            <a:r>
              <a:rPr lang="en" sz="1100">
                <a:solidFill>
                  <a:schemeClr val="dk1"/>
                </a:solidFill>
              </a:rPr>
              <a:t> instead of linear CoT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Captures multi-step dependencies via nodes &amp; edges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Limitation: No persistent or evolving system context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Search-R1: Training llms to reason and leverage search engines with reinforcement learning</a:t>
            </a:r>
            <a:endParaRPr i="1" sz="120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B Jin, H Zeng, Z Yue, J Yoon, S Arik, D Wang… - arXiv preprint arXiv:2503.09516, 2025</a:t>
            </a:r>
            <a:endParaRPr sz="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RL to decide when/how to search</a:t>
            </a:r>
            <a:r>
              <a:rPr lang="en" sz="1100">
                <a:solidFill>
                  <a:schemeClr val="dk1"/>
                </a:solidFill>
              </a:rPr>
              <a:t> for external info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reasoning via adaptive retrieval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Limitation: Works on unstructured, external data only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GNN-RAG: Graph Neural Retrieval for Large Language Model Reasoning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C. Mavromatis</a:t>
            </a:r>
            <a:r>
              <a:rPr i="1" lang="en" sz="1200">
                <a:solidFill>
                  <a:schemeClr val="dk1"/>
                </a:solidFill>
              </a:rPr>
              <a:t>, </a:t>
            </a:r>
            <a:r>
              <a:rPr i="1" lang="en" sz="12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G. Karypis</a:t>
            </a:r>
            <a:r>
              <a:rPr i="1" lang="en" sz="1200">
                <a:solidFill>
                  <a:schemeClr val="dk1"/>
                </a:solidFill>
              </a:rPr>
              <a:t> – arXiv preprint arXiv:2405.</a:t>
            </a:r>
            <a:r>
              <a:rPr i="1" lang="en" sz="1200">
                <a:solidFill>
                  <a:schemeClr val="dk1"/>
                </a:solidFill>
              </a:rPr>
              <a:t>20139</a:t>
            </a:r>
            <a:r>
              <a:rPr i="1" lang="en" sz="1200">
                <a:solidFill>
                  <a:schemeClr val="dk1"/>
                </a:solidFill>
              </a:rPr>
              <a:t>, 2025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Graph Neural Networks</a:t>
            </a:r>
            <a:r>
              <a:rPr lang="en" sz="1100">
                <a:solidFill>
                  <a:schemeClr val="dk1"/>
                </a:solidFill>
              </a:rPr>
              <a:t> to retrieve relevant subgraphs for LLM reasoning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multi-hop reasoning by leveraging structured graph context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Limitation: Relies on static graphs and non-adaptive retrieval mechanisms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Proposed Method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Data Structure storing Codebase specific context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Nodes: files, functions, classes, modules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Edges: dependencies, function calls, relationships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this to guide AI during code generation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(Soft Prompting) Prefix Tuning, using the data structure as the ‘instructional prefix token’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AI understand both local and global context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Additionally safety awareness, to retain access restrictions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Improve accuracy built off of Graph CoT &amp; possible exploration of Search-R1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8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Prefix Tuning Implementation (Mari)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Enables a single LLM to behave like multiple specialized assistants (e.g., backend Python, SQL, finance)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Dynamically selects the right behavior based on structured metadata (JSON input)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Separates what the model knows vs how it behaves:</a:t>
            </a:r>
            <a:endParaRPr sz="1350">
              <a:solidFill>
                <a:schemeClr val="dk1"/>
              </a:solidFill>
            </a:endParaRPr>
          </a:p>
          <a:p>
            <a:pPr indent="-314325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retrieval provides knowledge (repo context)</a:t>
            </a:r>
            <a:endParaRPr sz="1350">
              <a:solidFill>
                <a:schemeClr val="dk1"/>
              </a:solidFill>
            </a:endParaRPr>
          </a:p>
          <a:p>
            <a:pPr indent="-314325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prefix tuning controls behavior/style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Provides consistent output formatting and constraints (e.g., “only Python code”)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Improves scalability </a:t>
            </a:r>
            <a:r>
              <a:rPr lang="en" sz="1350">
                <a:solidFill>
                  <a:schemeClr val="dk1"/>
                </a:solidFill>
              </a:rPr>
              <a:t>with </a:t>
            </a:r>
            <a:r>
              <a:rPr lang="en" sz="1350">
                <a:solidFill>
                  <a:schemeClr val="dk1"/>
                </a:solidFill>
              </a:rPr>
              <a:t>new capabilities can be added as small adapters instead of new models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Enables fine-grained control over generation:</a:t>
            </a:r>
            <a:endParaRPr sz="1350">
              <a:solidFill>
                <a:schemeClr val="dk1"/>
              </a:solidFill>
            </a:endParaRPr>
          </a:p>
          <a:p>
            <a:pPr indent="-314325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restrict edits to certain parts of a codebase</a:t>
            </a:r>
            <a:endParaRPr sz="1350">
              <a:solidFill>
                <a:schemeClr val="dk1"/>
              </a:solidFill>
            </a:endParaRPr>
          </a:p>
          <a:p>
            <a:pPr indent="-314325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enforce domain-specific behavior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Reduces compute and memory cost compared to full fine-tuning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Ensures predictable behavior by aligning training signals with runtime routing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Makes the system modular and extensible:</a:t>
            </a:r>
            <a:endParaRPr sz="1350">
              <a:solidFill>
                <a:schemeClr val="dk1"/>
              </a:solidFill>
            </a:endParaRPr>
          </a:p>
          <a:p>
            <a:pPr indent="-314325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easy to plug in new domains, tasks, or constraints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Lays foundation for agent-like workflows, automated code editing, multi-domain copilots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i="1" lang="en" sz="1350">
                <a:solidFill>
                  <a:schemeClr val="dk1"/>
                </a:solidFill>
              </a:rPr>
              <a:t>Next Steps:</a:t>
            </a:r>
            <a:endParaRPr i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i="1" lang="en" sz="1350">
                <a:solidFill>
                  <a:schemeClr val="dk1"/>
                </a:solidFill>
              </a:rPr>
              <a:t>Proper </a:t>
            </a:r>
            <a:r>
              <a:rPr i="1" lang="en" sz="1350">
                <a:solidFill>
                  <a:schemeClr val="dk1"/>
                </a:solidFill>
              </a:rPr>
              <a:t>training data that would elicit desired behaviors</a:t>
            </a:r>
            <a:endParaRPr i="1"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Setup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85825"/>
            <a:ext cx="8520600" cy="3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Datasets and Evaluation Metrics</a:t>
            </a:r>
            <a:endParaRPr b="1" i="1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Open-sourced codebases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How well it is able to form the context graph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Later, we can also test how well it is able to solve the user’s query with and without having the context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Baseline Methods</a:t>
            </a:r>
            <a:endParaRPr b="1" i="1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Comparing our model output/code changes to those done by Claude Code or Cursor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RAG augmented planning — this isolates the contribution of the graph itself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Computing Estimation</a:t>
            </a:r>
            <a:endParaRPr b="1" i="1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Many LLM API calls, graph traversals — low GPU usage is expected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In case of fine-tuning, need to re-evaluate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Model Checkpoints and Codebase</a:t>
            </a:r>
            <a:endParaRPr b="1" i="1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 model like GPT-4o or Claude Sonnet to build the context graph and also answer user queries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F</a:t>
            </a:r>
            <a:r>
              <a:rPr lang="en">
                <a:solidFill>
                  <a:schemeClr val="dk1"/>
                </a:solidFill>
              </a:rPr>
              <a:t>ine-tuning on curated planning dialogues is an extension to consider once the base system is in place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72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Technical Challenges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Defining a good metric to measure correctness of AI outputs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Ensuring the data structure captures useful and accurate relationships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Designing prompts that effectively use the context information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Preventing the AI from ignoring important context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85825"/>
            <a:ext cx="8520600" cy="3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Node Recall - Fraction of ground-truth nodes recovered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Edge Precision - Fraction of extracted edges that are correct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Failure Point Recall  — fraction of post-mortem failure points mapped to Risk or Assumption nodes in the extracted graph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Maintaining access control and safety constraints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Making our proposed method scalable for large codebases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graphicFrame>
        <p:nvGraphicFramePr>
          <p:cNvPr id="113" name="Google Shape;113;p22"/>
          <p:cNvGraphicFramePr/>
          <p:nvPr/>
        </p:nvGraphicFramePr>
        <p:xfrm>
          <a:off x="952500" y="147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{317E43E5-0856-45B7-9385-7EC1A89BE12B}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Members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Responsibility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Contribution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Naman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Sogani &amp; Mari Garey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Graph schema + extraction pipeline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15% each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Elena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Motonishi &amp; Sreemae Konduru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Data collection + annotation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15% each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Ashvin Sehgal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Literature survey, living plan maintenance and blast radius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20%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Omkar Khade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Baselines, Stage 2 eval, integration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20%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