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8BDF8"/>
                </a:solidFill>
              </a:rPr>
              <a:t>Structured Planning Under Uncertainty: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A Decision Graph Approach to AI-Assisted Software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304288"/>
            <a:ext cx="54864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</a:rPr>
              <a:t>Naman Sogani · Ashvin Sehgal · Mari Garey · Elena Motonishi · Sreemae Konduru · Omkar Khade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CS 639 — Deep Learning for NLP  ·  UW–Madison  ·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38BDF8"/>
                </a:solidFill>
              </a:rP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8321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86968"/>
            <a:ext cx="40233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9E0B"/>
                </a:solidFill>
              </a:rP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59" y="886968"/>
            <a:ext cx="40233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9E0B"/>
                </a:solidFill>
              </a:rP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40233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AI coding tools optimise for the immediate task — they have no memory of past decisions, system-wide constraints, or architectural intent</a:t>
            </a:r>
          </a:p>
          <a:p>
            <a:pPr lvl="1" indent="-228600" marL="502920">
              <a:spcBef>
                <a:spcPts val="100"/>
              </a:spcBef>
              <a:buChar char="◦"/>
              <a:buClr>
                <a:srgbClr val="F59E0B"/>
              </a:buClr>
              <a:buSzPct val="90000"/>
            </a:pPr>
            <a:r>
              <a:rPr sz="1350" b="0">
                <a:solidFill>
                  <a:srgbClr val="94A3B8"/>
                </a:solidFill>
              </a:rPr>
              <a:t>Past decisions and coding standards are silently ignored</a:t>
            </a:r>
          </a:p>
          <a:p>
            <a:pPr lvl="1" indent="-228600" marL="502920">
              <a:spcBef>
                <a:spcPts val="100"/>
              </a:spcBef>
              <a:buChar char="◦"/>
              <a:buClr>
                <a:srgbClr val="F59E0B"/>
              </a:buClr>
              <a:buSzPct val="90000"/>
            </a:pPr>
            <a:r>
              <a:rPr sz="1350" b="0">
                <a:solidFill>
                  <a:srgbClr val="94A3B8"/>
                </a:solidFill>
              </a:rPr>
              <a:t>Cross-module dependencies are routinely missed</a:t>
            </a:r>
          </a:p>
          <a:p>
            <a:pPr lvl="1" indent="-228600" marL="502920">
              <a:spcBef>
                <a:spcPts val="100"/>
              </a:spcBef>
              <a:buChar char="◦"/>
              <a:buClr>
                <a:srgbClr val="F59E0B"/>
              </a:buClr>
              <a:buSzPct val="90000"/>
            </a:pPr>
            <a:r>
              <a:rPr sz="1350" b="0">
                <a:solidFill>
                  <a:srgbClr val="94A3B8"/>
                </a:solidFill>
              </a:rPr>
              <a:t>Errors surface later in unrelated parts of the codebase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59" y="1325880"/>
            <a:ext cx="40233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As projects grow, inconsistency compounds — a single misaligned decision can invalidate downstream components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No existing tool surfaces the planning graph implicit in developer–AI conversations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We propose extracting that graph and using it to keep AI grounded in project-wide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38BDF8"/>
                </a:solidFill>
              </a:rPr>
              <a:t>Related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8321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8321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59E0B"/>
                </a:solidFill>
              </a:rPr>
              <a:t>▸  Graph Chain-of-Thought  (Jin et al.,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228600" marL="502920">
              <a:spcBef>
                <a:spcPts val="100"/>
              </a:spcBef>
              <a:buChar char="◦"/>
              <a:buClr>
                <a:srgbClr val="F59E0B"/>
              </a:buClr>
              <a:buSzPct val="90000"/>
            </a:pPr>
            <a:r>
              <a:rPr sz="1250" b="0">
                <a:solidFill>
                  <a:srgbClr val="94A3B8"/>
                </a:solidFill>
              </a:rPr>
              <a:t>→  Graph-structured reasoning over multi-step dependencies via nodes &amp; edges — but no persistent or evolving system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11680"/>
            <a:ext cx="8321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59E0B"/>
                </a:solidFill>
              </a:rPr>
              <a:t>▸  Search-R1  (Jin et al.,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1343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228600" marL="502920">
              <a:spcBef>
                <a:spcPts val="100"/>
              </a:spcBef>
              <a:buChar char="◦"/>
              <a:buClr>
                <a:srgbClr val="F59E0B"/>
              </a:buClr>
              <a:buSzPct val="90000"/>
            </a:pPr>
            <a:r>
              <a:rPr sz="1250" b="0">
                <a:solidFill>
                  <a:srgbClr val="94A3B8"/>
                </a:solidFill>
              </a:rPr>
              <a:t>→  RL-trained LLM that decides when to search for external info — improves reasoning via adaptive retrieval, but works on unstructured data only.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17520"/>
            <a:ext cx="8321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>
                <a:solidFill>
                  <a:srgbClr val="F59E0B"/>
                </a:solidFill>
              </a:rPr>
              <a:t>▸  GNN-RAG  (Mavromatis &amp; Karypis, 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19272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indent="-228600" marL="502920">
              <a:spcBef>
                <a:spcPts val="100"/>
              </a:spcBef>
              <a:buChar char="◦"/>
              <a:buClr>
                <a:srgbClr val="F59E0B"/>
              </a:buClr>
              <a:buSzPct val="90000"/>
            </a:pPr>
            <a:r>
              <a:rPr sz="1250" b="0">
                <a:solidFill>
                  <a:srgbClr val="94A3B8"/>
                </a:solidFill>
              </a:rPr>
              <a:t>→  GNNs retrieve relevant subgraphs for multi-hop LLM reasoning — but relies on static, pre-built graphs and non-adaptive retrieval.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38BDF8"/>
                </a:solidFill>
              </a:rPr>
              <a:t>Our Approach: Decision Graph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8321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86968"/>
            <a:ext cx="40233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9E0B"/>
                </a:solidFill>
              </a:rPr>
              <a:t>7 Node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59" y="886968"/>
            <a:ext cx="40233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9E0B"/>
                </a:solidFill>
              </a:rPr>
              <a:t>8 Edge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40233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Objective   — what the system aims to achieve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Requirement — hard constraints and must-haves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Assumption  — implicit beliefs about the environment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Decision    — explicit architectural choices + rationale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Component   — modules, services, libraries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Interface   — APIs, protocols, schemas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Risk        — concerns, tradeoffs,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59" y="1325880"/>
            <a:ext cx="40233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motivated_by    — decision ← objective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assumes         — decision → assumption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implements      — component → requirement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depends_on      — component → component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conflicts_with  — risk ↔ decision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invalidates     — risk → assumption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exposes         — component → interface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consumes        — component →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54914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Extracted from developer–AI conversation logs via LLM; stored as a typed directed graph (NetworkX).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38BDF8"/>
                </a:solidFill>
              </a:rPr>
              <a:t>Data Collection &amp; EDA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8321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86968"/>
            <a:ext cx="40233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9E0B"/>
                </a:solidFill>
              </a:rPr>
              <a:t>Corpus (166 documents, 5,702 sentences)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59" y="886968"/>
            <a:ext cx="40233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9E0B"/>
                </a:solidFill>
              </a:rPr>
              <a:t>4-Phase 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40233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GitHub Issues — 116 issues across 8 design-heavy repos fetched via Search API (keyword: design OR architecture OR rfc OR proposal OR decision OR tradeoff in title)</a:t>
            </a:r>
          </a:p>
          <a:p>
            <a:pPr lvl="1" indent="-228600" marL="502920">
              <a:spcBef>
                <a:spcPts val="100"/>
              </a:spcBef>
              <a:buChar char="◦"/>
              <a:buClr>
                <a:srgbClr val="F59E0B"/>
              </a:buClr>
              <a:buSzPct val="90000"/>
            </a:pPr>
            <a:r>
              <a:rPr sz="1250" b="0">
                <a:solidFill>
                  <a:srgbClr val="94A3B8"/>
                </a:solidFill>
              </a:rPr>
              <a:t>rust-lang/rfcs, denoland/deno, astral-sh/uv, tokio-rs/tokio, gleam-lang/gleam, ghostty-org/ghostty, BurntSushi/ripgrep, microsoft/typescript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Stack Overflow — 30 [software-design] questions + top 3 voted answers per question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Post-mortems — danluu/post-mortems curated list (8k words of incident descriptions)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59" y="1325880"/>
            <a:ext cx="40233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Hedge detection — epistemic modals &amp; conditionals as Assumption node signal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Node-type keyword density — hits per 1k words across 7 node types × 3 tiers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Dependency verb patterns — surface signals for edge extraction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Uncategorized sampling — manual review to surface schema gaps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38BDF8"/>
                </a:solidFill>
              </a:rPr>
              <a:t>EDA Findings: Node-Type Keyword Density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8321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32104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68630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Assumption is rarest across all tiers (mean 0.049/1k).  GitHub Issues are the only reliable source of Risk &amp; Decision signal.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38BDF8"/>
                </a:solidFill>
              </a:rPr>
              <a:t>EDA Findings: Hedge &amp; Edge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8321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4069080" cy="35204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60120"/>
            <a:ext cx="4069080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68630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320 hedge hits across 5,702 sentences.  11/14 dependency verb patterns found; 'consumes', 'feeds_into', 'delegates_to' absent from corpus.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38BDF8"/>
                </a:solidFill>
              </a:rPr>
              <a:t>Prefix Tuning: Repo-Aware LLM Specialisation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8321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86968"/>
            <a:ext cx="40233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9E0B"/>
                </a:solidFill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59" y="886968"/>
            <a:ext cx="40233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9E0B"/>
                </a:solidFill>
              </a:rPr>
              <a:t>Why It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40233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Trains separate PEFT prefix adapters (20 virtual tokens) per repo domain — e.g. finance_python, backend_sql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JSON metadata router selects the right adapter at inference time based on frameworks, directive, and file-path constraints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Soft-biases LLM output style without storing repo data in weights — retrieval handles knowledge, prefix handles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59" y="1325880"/>
            <a:ext cx="40233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GitHub Issues (Decision/Risk-heavy) and Stack Overflow (Component/Interface-heavy) have near-disjoint node profiles → natural adapter split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Modular: new domains added as small adapters, not new models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Next: build train_examples.json and run first adapter training loop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38BDF8"/>
                </a:solidFill>
              </a:rPr>
              <a:t>Evaluation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8321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86968"/>
            <a:ext cx="40233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9E0B"/>
                </a:solidFill>
              </a:rPr>
              <a:t>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9159" y="886968"/>
            <a:ext cx="40233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9E0B"/>
                </a:solidFill>
              </a:rPr>
              <a:t>Experiment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40233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Node Recall — fraction of ground-truth nodes recovered from a conversation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Edge Precision — fraction of extracted edges that are correct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Failure Point Recall — fraction of post-mortem failure points mapped to Risk or Assumption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59" y="1325880"/>
            <a:ext cx="4023359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6 planning projects spanning diverse complexity (job pipeline, OAuth2/SSO, ETL, monolith migration, ML feature, dev CLI)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Condition A: standard Claude Code session — prompt in, plan out</a:t>
            </a:r>
          </a:p>
          <a:p>
            <a:pPr lvl="1" indent="-228600" marL="502920">
              <a:spcBef>
                <a:spcPts val="100"/>
              </a:spcBef>
              <a:buChar char="◦"/>
              <a:buClr>
                <a:srgbClr val="F59E0B"/>
              </a:buClr>
              <a:buSzPct val="90000"/>
            </a:pPr>
            <a:r>
              <a:rPr sz="1250" b="0">
                <a:solidFill>
                  <a:srgbClr val="94A3B8"/>
                </a:solidFill>
              </a:rPr>
              <a:t>Condition B: graph-augmented — extraction after each exchange, graph fed back as planning context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Each project scored against a pre-defined objectives rubric (functional + structural)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Baseline: RAG-augmented planning to isolate graph contribution from retrieval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091940"/>
            <a:ext cx="8321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9E0B"/>
                </a:solidFill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485132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400" b="0">
                <a:solidFill>
                  <a:srgbClr val="E2E8F0"/>
                </a:solidFill>
              </a:rPr>
              <a:t>Open-sourced codebases with documented design decisions (sourced from our EDA corpus); manually annotated decision graphs as ground truth.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38BDF8"/>
                </a:solidFill>
              </a:rPr>
              <a:t>Case Study: Job Copilot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8321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60120"/>
          <a:ext cx="83210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337560"/>
                <a:gridCol w="3337560"/>
              </a:tblGrid>
              <a:tr h="40494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94A3B8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121E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59E0B"/>
                          </a:solidFill>
                        </a:rPr>
                        <a:t>Condition A</a:t>
                      </a:r>
                    </a:p>
                  </a:txBody>
                  <a:tcPr>
                    <a:solidFill>
                      <a:srgbClr val="2A1A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0B981"/>
                          </a:solidFill>
                        </a:rPr>
                        <a:t>Condition B</a:t>
                      </a:r>
                    </a:p>
                  </a:txBody>
                  <a:tcPr>
                    <a:solidFill>
                      <a:srgbClr val="0D261C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94A3B8"/>
                          </a:solidFill>
                        </a:rPr>
                        <a:t>Functional (7)</a:t>
                      </a:r>
                    </a:p>
                  </a:txBody>
                  <a:tcPr>
                    <a:solidFill>
                      <a:srgbClr val="121D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59E0B"/>
                          </a:solidFill>
                        </a:rPr>
                        <a:t>5.5 / 7</a:t>
                      </a:r>
                    </a:p>
                  </a:txBody>
                  <a:tcPr>
                    <a:solidFill>
                      <a:srgbClr val="121D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59E0B"/>
                          </a:solidFill>
                        </a:rPr>
                        <a:t>6 / 7</a:t>
                      </a:r>
                    </a:p>
                  </a:txBody>
                  <a:tcPr>
                    <a:solidFill>
                      <a:srgbClr val="121D30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94A3B8"/>
                          </a:solidFill>
                        </a:rPr>
                        <a:t>Structural (3)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87171"/>
                          </a:solidFill>
                        </a:rPr>
                        <a:t>1 / 3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0B981"/>
                          </a:solidFill>
                        </a:rPr>
                        <a:t>3 / 3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94A3B8"/>
                          </a:solidFill>
                        </a:rPr>
                        <a:t>Runtime</a:t>
                      </a:r>
                    </a:p>
                  </a:txBody>
                  <a:tcPr>
                    <a:solidFill>
                      <a:srgbClr val="121D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</a:rPr>
                        <a:t>Python — implicit ✗</a:t>
                      </a:r>
                    </a:p>
                  </a:txBody>
                  <a:tcPr>
                    <a:solidFill>
                      <a:srgbClr val="121D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59E0B"/>
                          </a:solidFill>
                        </a:rPr>
                        <a:t>Python — documented
+ alternatives ✓</a:t>
                      </a:r>
                    </a:p>
                  </a:txBody>
                  <a:tcPr>
                    <a:solidFill>
                      <a:srgbClr val="121D30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94A3B8"/>
                          </a:solidFill>
                        </a:rPr>
                        <a:t>Assumptions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87171"/>
                          </a:solidFill>
                        </a:rPr>
                        <a:t>None enumerated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0B981"/>
                          </a:solidFill>
                        </a:rPr>
                        <a:t>8 nodes,
confidence-rated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94A3B8"/>
                          </a:solidFill>
                        </a:rPr>
                        <a:t>Risks</a:t>
                      </a:r>
                    </a:p>
                  </a:txBody>
                  <a:tcPr>
                    <a:solidFill>
                      <a:srgbClr val="121D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59E0B"/>
                          </a:solidFill>
                        </a:rPr>
                        <a:t>6 items, informal prose</a:t>
                      </a:r>
                    </a:p>
                  </a:txBody>
                  <a:tcPr>
                    <a:solidFill>
                      <a:srgbClr val="121D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0B981"/>
                          </a:solidFill>
                        </a:rPr>
                        <a:t>9 nodes,
severity-rated</a:t>
                      </a:r>
                    </a:p>
                  </a:txBody>
                  <a:tcPr>
                    <a:solidFill>
                      <a:srgbClr val="121D30"/>
                    </a:solidFill>
                  </a:tcPr>
                </a:tc>
              </a:tr>
              <a:tr h="40495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94A3B8"/>
                          </a:solidFill>
                        </a:rPr>
                        <a:t>Graph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94A3B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2E8F0"/>
                          </a:solidFill>
                        </a:rPr>
                        <a:t>57 nodes · 64 edges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867912"/>
            <a:ext cx="8321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F59E0B"/>
                </a:solidFill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169664"/>
            <a:ext cx="8321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100" b="0">
                <a:solidFill>
                  <a:srgbClr val="E2E8F0"/>
                </a:solidFill>
              </a:rPr>
              <a:t>Structural coverage dominated even with a broken feedback loop — B surfaced 8 explicit assumption nodes + 9 risk nodes; A produced zero enumerable ones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100" b="0">
                <a:solidFill>
                  <a:srgbClr val="E2E8F0"/>
                </a:solidFill>
              </a:rPr>
              <a:t>Both chose Python for Playwright (wrong); B's graph logged the decision with alternatives_considered — the mistake is auditable and challengeable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100" b="0">
                <a:solidFill>
                  <a:srgbClr val="E2E8F0"/>
                </a:solidFill>
              </a:rPr>
              <a:t>Core result: the graph forces explicit enumeration of assumptions and risks regardless of whether the planner makes correct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38BDF8"/>
                </a:solidFill>
              </a:rPr>
              <a:t>Decision Graph: Job Copilot Pipeline (Condition B)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8321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aph-proj1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6949440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960120"/>
            <a:ext cx="16002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57 nodes · 64 edges · extracted from 2 planning exchanges. Colours: blue = objective, orange = requirement, green = decision, teal = component, purple = interface, yellow = assumption, red =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400">
                <a:solidFill>
                  <a:srgbClr val="38BDF8"/>
                </a:solidFill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8321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86968"/>
            <a:ext cx="8321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F59E0B"/>
                </a:solidFill>
              </a:rPr>
              <a:t>Immediate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8321040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Run comparative evaluation on 5 remaining projects — vary domain (OAuth2/SSO, ETL pipeline, monolith migration, ML feature, dev CLI) to test graph generalization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Test true iterative feedback loop: two-window workflow where graph is re-injected after each decision cluster — isolate whether iteration improves planning vs. single-shot extraction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Experiment with stronger Condition B prompting mechanisms: 'reference graph before each decision', structured decision templates, explicit assumption-surfacing prompts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Compare planning agents: Claude Code vs Cursor vs raw API — do different agents respond differently to graph context?</a:t>
            </a:r>
          </a:p>
          <a:p>
            <a:pPr indent="-228600" marL="274320">
              <a:spcBef>
                <a:spcPts val="300"/>
              </a:spcBef>
              <a:buChar char="•"/>
              <a:buClr>
                <a:srgbClr val="F59E0B"/>
              </a:buClr>
              <a:buSzPct val="90000"/>
            </a:pPr>
            <a:r>
              <a:rPr sz="1500" b="0">
                <a:solidFill>
                  <a:srgbClr val="E2E8F0"/>
                </a:solidFill>
              </a:rPr>
              <a:t>Annotate ground truth graphs + train prefix-tuning adapters for domain-specific assumption and risk extraction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